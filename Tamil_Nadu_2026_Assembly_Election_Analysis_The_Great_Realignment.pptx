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57" r:id="rId3"/>
    <p:sldId id="258" r:id="rId4"/>
    <p:sldId id="260" r:id="rId5"/>
    <p:sldId id="259" r:id="rId6"/>
    <p:sldId id="261" r:id="rId7"/>
    <p:sldId id="266" r:id="rId8"/>
    <p:sldId id="262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36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61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5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1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8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8414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E3A8A"/>
                </a:solidFill>
                <a:latin typeface="Baskerville Old Face" panose="02020602080505020303" pitchFamily="18" charset="0"/>
                <a:ea typeface="Platypi Medium" pitchFamily="34" charset="-122"/>
                <a:cs typeface="Platypi Medium" pitchFamily="34" charset="-120"/>
              </a:rPr>
              <a:t>Tamil Nadu 2026 Assembly Election Analysis: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E3A8A"/>
                </a:solidFill>
                <a:latin typeface="Baskerville Old Face" panose="02020602080505020303" pitchFamily="18" charset="0"/>
                <a:ea typeface="Platypi Medium" pitchFamily="34" charset="-122"/>
                <a:cs typeface="Platypi Medium" pitchFamily="34" charset="-120"/>
              </a:rPr>
              <a:t>The Great Realignment</a:t>
            </a:r>
            <a:endParaRPr lang="en-US" sz="275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08720" y="1857375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i="1" dirty="0">
                <a:solidFill>
                  <a:srgbClr val="05966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"2026 was not about who won, but who emerged."</a:t>
            </a:r>
            <a:endParaRPr lang="en-US" sz="1400" b="1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2216" y="1733327"/>
            <a:ext cx="19050" cy="545753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6119" y="2403128"/>
            <a:ext cx="8151763" cy="122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The Dawn of a New Political Era: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The most significant transformation in the state's political landscape in decades.</a:t>
            </a:r>
            <a:endParaRPr lang="en-US" sz="1400" dirty="0">
              <a:latin typeface="Baskerville Old Face" panose="020206020805050203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The Bipolar Tradition: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Disruption of the long-standing DMK-AIADMK duopoly by the new entrant, TVK.</a:t>
            </a:r>
            <a:endParaRPr lang="en-US" sz="1400" dirty="0">
              <a:latin typeface="Baskerville Old Face" panose="020206020805050203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A State in Transition: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Record-breaking voter turnout of 85.1% signaling a clear desire for political evolution.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6119" y="3824213"/>
            <a:ext cx="8151763" cy="10567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6119" y="4189140"/>
            <a:ext cx="1754386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1174" y="4231630"/>
            <a:ext cx="204147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MAY 2026 ELECTION REPORT</a:t>
            </a:r>
            <a:endParaRPr lang="en-US" sz="850" b="1" dirty="0">
              <a:latin typeface="Baskerville Old Face" panose="020206020805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92501" y="4157216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00" b="1" dirty="0">
                <a:latin typeface="Baskerville Old Face" panose="02020602080505020303" pitchFamily="18" charset="0"/>
              </a:rPr>
              <a:t>By – Nirmit Gupta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6FE874-8C15-4E38-1ED8-6D5CB33D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708" y="4706466"/>
            <a:ext cx="3753374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901122" y="0"/>
            <a:ext cx="3572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>
              <a:latin typeface="Baskerville Old Face" panose="020206020805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249561" y="262861"/>
            <a:ext cx="622935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8A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Methodology &amp; Data Coverage</a:t>
            </a:r>
            <a:endParaRPr lang="en-US" sz="2800" dirty="0">
              <a:latin typeface="Baskerville Old Face" panose="020206020805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300271" y="959331"/>
            <a:ext cx="279320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Baskerville Old Face" panose="02020602080505020303" pitchFamily="18" charset="0"/>
                <a:ea typeface="JetBrains Mono SemiBold" pitchFamily="34" charset="-122"/>
                <a:cs typeface="JetBrains Mono SemiBold" pitchFamily="34" charset="-120"/>
              </a:rPr>
              <a:t>COMPREHENSIVE SCOPE</a:t>
            </a:r>
            <a:endParaRPr lang="en-US" sz="1200" b="1" dirty="0">
              <a:latin typeface="Baskerville Old Face" panose="020206020805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300271" y="1214720"/>
            <a:ext cx="2793206" cy="597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Analysis of all 234 constituencies across Tamil Nadu to ensure a complete state-wide perspective and eliminate regional bias.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00671" y="966224"/>
            <a:ext cx="279320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Baskerville Old Face" panose="02020602080505020303" pitchFamily="18" charset="0"/>
                <a:ea typeface="JetBrains Mono SemiBold" pitchFamily="34" charset="-122"/>
                <a:cs typeface="JetBrains Mono SemiBold" pitchFamily="34" charset="-120"/>
              </a:rPr>
              <a:t>COMPARATIVE FRAMEWORK</a:t>
            </a:r>
            <a:endParaRPr lang="en-US" sz="1200" b="1" dirty="0">
              <a:latin typeface="Baskerville Old Face" panose="020206020805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500671" y="1221613"/>
            <a:ext cx="2793206" cy="597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Direct comparison between the 2021 and 2026 election cycles to identify structural shifts versus cyclical changes.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300271" y="1993917"/>
            <a:ext cx="279320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Baskerville Old Face" panose="02020602080505020303" pitchFamily="18" charset="0"/>
                <a:ea typeface="JetBrains Mono SemiBold" pitchFamily="34" charset="-122"/>
                <a:cs typeface="JetBrains Mono SemiBold" pitchFamily="34" charset="-120"/>
              </a:rPr>
              <a:t>DATA INTEGRITY</a:t>
            </a:r>
            <a:endParaRPr lang="en-US" sz="1200" b="1" dirty="0">
              <a:latin typeface="Baskerville Old Face" panose="0202060208050502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300271" y="2249306"/>
            <a:ext cx="2793206" cy="597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Based on official Election Commission of India (ECI) data, covering over 4,200 candidates per election cycle.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500671" y="2000810"/>
            <a:ext cx="279320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Baskerville Old Face" panose="02020602080505020303" pitchFamily="18" charset="0"/>
                <a:ea typeface="JetBrains Mono SemiBold" pitchFamily="34" charset="-122"/>
                <a:cs typeface="JetBrains Mono SemiBold" pitchFamily="34" charset="-120"/>
              </a:rPr>
              <a:t>REGIONAL GRANULARITY</a:t>
            </a:r>
            <a:endParaRPr lang="en-US" sz="1200" b="1" dirty="0">
              <a:latin typeface="Baskerville Old Face" panose="020206020805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500671" y="2256199"/>
            <a:ext cx="2793206" cy="597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Data aggregated into six key geographic regions: Chennai Metro, North, Central, Kongu, Delta, and South.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96077" y="1131381"/>
            <a:ext cx="37991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234</a:t>
            </a:r>
            <a:endParaRPr lang="en-US" sz="2000" b="1" dirty="0">
              <a:latin typeface="Baskerville Old Face" panose="020206020805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96930" y="1395559"/>
            <a:ext cx="1178208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CONSTITUENCIES</a:t>
            </a:r>
            <a:endParaRPr lang="en-US" sz="1050" b="1" dirty="0">
              <a:latin typeface="Baskerville Old Face" panose="0202060208050502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6589" y="1800268"/>
            <a:ext cx="56746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4,257</a:t>
            </a:r>
            <a:endParaRPr lang="en-US" sz="2000" b="1" dirty="0">
              <a:latin typeface="Baskerville Old Face" panose="02020602080505020303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90605" y="2093143"/>
            <a:ext cx="1255152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CANDIDATES (2026)</a:t>
            </a:r>
            <a:endParaRPr lang="en-US" sz="1050" b="1" dirty="0">
              <a:latin typeface="Baskerville Old Face" panose="02020602080505020303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2389" y="2510674"/>
            <a:ext cx="63158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85.1%</a:t>
            </a:r>
            <a:endParaRPr lang="en-US" sz="2000" b="1" dirty="0">
              <a:latin typeface="Baskerville Old Face" panose="02020602080505020303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32832" y="2788766"/>
            <a:ext cx="1181414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VOTER TURNOUT</a:t>
            </a:r>
            <a:endParaRPr lang="en-US" sz="1050" b="1" dirty="0">
              <a:latin typeface="Baskerville Old Face" panose="020206020805050203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37002" y="3104812"/>
            <a:ext cx="12663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6</a:t>
            </a:r>
            <a:endParaRPr lang="en-US" sz="2000" b="1" dirty="0">
              <a:latin typeface="Baskerville Old Face" panose="02020602080505020303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57705" y="3390599"/>
            <a:ext cx="1085233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MAJOR REGIONS</a:t>
            </a:r>
            <a:endParaRPr lang="en-US" sz="105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FE143-6A3B-4D6A-192A-0CEDEC0E5A15}"/>
              </a:ext>
            </a:extLst>
          </p:cNvPr>
          <p:cNvSpPr txBox="1"/>
          <p:nvPr/>
        </p:nvSpPr>
        <p:spPr>
          <a:xfrm>
            <a:off x="1978297" y="3289898"/>
            <a:ext cx="6906949" cy="524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B050"/>
                </a:solidFill>
                <a:effectLst/>
                <a:latin typeface="Baskerville Old Face" panose="020206020805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The vote share story : </a:t>
            </a:r>
            <a:r>
              <a:rPr lang="en-US" sz="1100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Where did </a:t>
            </a:r>
            <a:r>
              <a:rPr lang="en-US" sz="1100" b="1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TVK's votes come from?</a:t>
            </a:r>
            <a:r>
              <a:rPr lang="en-US" sz="1100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Compare party vote share state-wide and by region in 2021 vs 2026. Did TVK pull from DMK, AIADMK, both, or from previously non-voting populations?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C9D88A-CB21-91DB-4B38-F488A73859F8}"/>
              </a:ext>
            </a:extLst>
          </p:cNvPr>
          <p:cNvSpPr txBox="1"/>
          <p:nvPr/>
        </p:nvSpPr>
        <p:spPr>
          <a:xfrm>
            <a:off x="1978297" y="3780473"/>
            <a:ext cx="7079488" cy="52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B050"/>
                </a:solidFill>
                <a:effectLst/>
                <a:latin typeface="Baskerville Old Face" panose="020206020805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The geographic story : </a:t>
            </a:r>
            <a:r>
              <a:rPr lang="en-US" sz="1100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How did the </a:t>
            </a:r>
            <a:r>
              <a:rPr lang="en-US" sz="1100" b="1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seat distribution shift across Tamil Nadu's six regions</a:t>
            </a:r>
            <a:r>
              <a:rPr lang="en-US" sz="1100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(Chennai Metro, North, Central, </a:t>
            </a:r>
            <a:r>
              <a:rPr lang="en-US" sz="1100" dirty="0" err="1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Kongu</a:t>
            </a:r>
            <a:r>
              <a:rPr lang="en-US" sz="1100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Delta, South) between 2021 and 2026? Where did each major formation gain or lose ground?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7394A1-D435-80B3-9CE2-E65156F43BE2}"/>
              </a:ext>
            </a:extLst>
          </p:cNvPr>
          <p:cNvSpPr txBox="1"/>
          <p:nvPr/>
        </p:nvSpPr>
        <p:spPr>
          <a:xfrm>
            <a:off x="1959435" y="4301270"/>
            <a:ext cx="7082471" cy="718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B050"/>
                </a:solidFill>
                <a:effectLst/>
                <a:latin typeface="Baskerville Old Face" panose="020206020805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The margin of victory story : </a:t>
            </a:r>
            <a:r>
              <a:rPr lang="en-US" sz="1100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How did the average margin of victory change between 2021 and 2026? In how many constituencies did the </a:t>
            </a:r>
            <a:r>
              <a:rPr lang="en-US" sz="1100" b="1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winning candidate</a:t>
            </a:r>
            <a:r>
              <a:rPr lang="en-US" sz="1100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secure </a:t>
            </a:r>
            <a:r>
              <a:rPr lang="en-US" sz="1100" b="1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more than 50% of the valid votes polled</a:t>
            </a:r>
            <a:r>
              <a:rPr lang="en-US" sz="1100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 In how many did the </a:t>
            </a:r>
            <a:r>
              <a:rPr lang="en-US" sz="1100" b="1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winning candidate receive less than 35% of the valid votes polled</a:t>
            </a:r>
            <a:r>
              <a:rPr lang="en-US" sz="1100" dirty="0">
                <a:effectLst/>
                <a:latin typeface="Baskerville Old Face" panose="020206020805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C26351-E509-942B-B6CA-30DA60BC9D39}"/>
              </a:ext>
            </a:extLst>
          </p:cNvPr>
          <p:cNvSpPr txBox="1"/>
          <p:nvPr/>
        </p:nvSpPr>
        <p:spPr>
          <a:xfrm>
            <a:off x="1978297" y="2951344"/>
            <a:ext cx="1906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Baskerville Old Face" panose="02020602080505020303" pitchFamily="18" charset="0"/>
              </a:rPr>
              <a:t>Research Questions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193898" y="0"/>
            <a:ext cx="3572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379368" y="171425"/>
            <a:ext cx="622935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Vote Share Story: A Genuine Political Realignment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2646" y="171425"/>
            <a:ext cx="2568178" cy="85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TVK's Disruptive Entry:</a:t>
            </a: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The new entrant captured a massive 34.92% of the state-wide vote share in its debut performance, fundamentally altering the electoral landscape.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22646" y="1095729"/>
            <a:ext cx="2817666" cy="2489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00" b="1" dirty="0"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Erosion of Bases:</a:t>
            </a:r>
            <a:r>
              <a:rPr lang="en-US" sz="1100" dirty="0"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DMK's vote share dropped from 37.7% to 24.19% (-13.51pp), while AIADMK fell from 33.29% to 21.21% (-12.08pp). </a:t>
            </a:r>
            <a:r>
              <a:rPr lang="en-US" sz="1100" dirty="0">
                <a:latin typeface="Baskerville Old Face" panose="02020602080505020303" pitchFamily="18" charset="0"/>
                <a:ea typeface="JetBrains Mono SemiBold" pitchFamily="34" charset="-122"/>
                <a:cs typeface="JetBrains Mono SemiBold" pitchFamily="34" charset="-120"/>
              </a:rPr>
              <a:t>Combined loss of 25.59pp from the traditional "Big Two" accounts for the majority of TVK's gains, suggesting a true state-wide realignment. </a:t>
            </a:r>
          </a:p>
          <a:p>
            <a:pPr>
              <a:lnSpc>
                <a:spcPct val="128000"/>
              </a:lnSpc>
            </a:pPr>
            <a:r>
              <a:rPr lang="en-US" sz="1100" dirty="0">
                <a:latin typeface="Baskerville Old Face" panose="02020602080505020303" pitchFamily="18" charset="0"/>
              </a:rPr>
              <a:t>An 85.1% turnout — a state record — suggests TVK also mobilized voters the two-party era never reached.</a:t>
            </a:r>
          </a:p>
          <a:p>
            <a:pPr>
              <a:buNone/>
            </a:pPr>
            <a:br>
              <a:rPr lang="en-US" sz="1100" dirty="0">
                <a:latin typeface="Baskerville Old Face" panose="02020602080505020303" pitchFamily="18" charset="0"/>
              </a:rPr>
            </a:br>
            <a:endParaRPr lang="en-US" sz="1100" dirty="0">
              <a:latin typeface="Baskerville Old Face" panose="02020602080505020303" pitchFamily="18" charset="0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25502" y="2521940"/>
            <a:ext cx="235386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36" y="3026586"/>
            <a:ext cx="2253886" cy="1984882"/>
          </a:xfrm>
          <a:prstGeom prst="rect">
            <a:avLst/>
          </a:prstGeom>
        </p:spPr>
      </p:pic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056" y="568794"/>
            <a:ext cx="5633461" cy="27772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B0C7C8-CD42-C263-737C-2F06CBC7C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779" y="3487378"/>
            <a:ext cx="4421659" cy="14846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2724194" y="128256"/>
            <a:ext cx="622935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Seat Distribution Shift (2021 vs 2026)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0330" y="779807"/>
            <a:ext cx="2260271" cy="85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A New Three-Way Split:</a:t>
            </a: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The legislative assembly transitioned from a bipolar structure to a complex triangular contest, with TVK securing 108 seats overall.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0330" y="2260804"/>
            <a:ext cx="2260271" cy="85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Regional Strongholds:</a:t>
            </a: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While DMK maintained strength in the South (22 seats), TVK swept the Chennai Metro region with a dominant 29 seats.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90330" y="3788529"/>
            <a:ext cx="2260271" cy="85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AIADMK's Resilience:</a:t>
            </a: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Despite vote share losses, AIADMK retained its presence in the North and Central regions, holding 15 seats in each.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C83B78-6EE7-32E4-09D7-36B9C798F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171" y="3365378"/>
            <a:ext cx="2292159" cy="1556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0ED092-18EE-8CD4-F6D7-4A622445D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44" y="3365992"/>
            <a:ext cx="2857500" cy="1563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A0A77B-FB60-362D-C570-35B5D47AB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743" y="464598"/>
            <a:ext cx="6389225" cy="2699651"/>
          </a:xfrm>
          <a:prstGeom prst="rect">
            <a:avLst/>
          </a:prstGeom>
        </p:spPr>
      </p:pic>
      <p:sp>
        <p:nvSpPr>
          <p:cNvPr id="18" name="Shape 1">
            <a:extLst>
              <a:ext uri="{FF2B5EF4-FFF2-40B4-BE49-F238E27FC236}">
                <a16:creationId xmlns:a16="http://schemas.microsoft.com/office/drawing/2014/main" id="{B701A4DF-C393-FB24-D914-F484C98509F8}"/>
              </a:ext>
            </a:extLst>
          </p:cNvPr>
          <p:cNvSpPr/>
          <p:nvPr/>
        </p:nvSpPr>
        <p:spPr>
          <a:xfrm>
            <a:off x="2552886" y="0"/>
            <a:ext cx="3572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2621802" y="0"/>
            <a:ext cx="3572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36953" y="298461"/>
            <a:ext cx="62293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A8A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The Geographic Story: Uniformity Across Regions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736953" y="812075"/>
            <a:ext cx="6229350" cy="63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TVK demonstrated a consistent appeal across all of Tamil Nadu, suggesting a movement that resonated across different economic and social strata. While the </a:t>
            </a:r>
            <a:r>
              <a:rPr lang="en-US" sz="1100" b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Chennai Metro</a:t>
            </a:r>
            <a:r>
              <a:rPr lang="en-US" sz="11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region emerged as a dominant stronghold, support remained robust in all other geographic belts. Creating roughly a 15-point difference across regions.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53F1F6-EB18-7CEA-7968-7B3086C73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41" y="403572"/>
            <a:ext cx="2018225" cy="22078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228173-896A-D143-1872-0339356C9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6" y="2778331"/>
            <a:ext cx="2510800" cy="16575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35D051-415C-5EDA-DAEC-6E7C10261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0410" y="1812864"/>
            <a:ext cx="5314917" cy="2604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246012" y="0"/>
            <a:ext cx="3572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09919" y="232124"/>
            <a:ext cx="622935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E3A8A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The Margin of Victory Story: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6695" y="566093"/>
            <a:ext cx="2971800" cy="57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Declining Average Margins:</a:t>
            </a:r>
            <a:r>
              <a:rPr lang="en-US" sz="10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The average victory margin dropped significantly from 22,871 votes in 2021 to 16,784 votes in 2026, a decrease of over 6,000 votes.</a:t>
            </a:r>
            <a:endParaRPr lang="en-US" sz="1000" dirty="0">
              <a:latin typeface="Baskerville Old Face" panose="020206020805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6695" y="1165334"/>
            <a:ext cx="2971800" cy="57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Increased Competition:</a:t>
            </a:r>
            <a:r>
              <a:rPr lang="en-US" sz="10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Multi-cornered contests led to split votes, making every constituency a high-stakes battle with increased statistical volatility.</a:t>
            </a:r>
            <a:endParaRPr lang="en-US" sz="1000" dirty="0">
              <a:latin typeface="Baskerville Old Face" panose="02020602080505020303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36695" y="1819313"/>
            <a:ext cx="2971800" cy="100509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 sz="2400">
              <a:latin typeface="Baskerville Old Face" panose="0202060208050502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36695" y="1819313"/>
            <a:ext cx="2971800" cy="357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 sz="2400">
              <a:latin typeface="Baskerville Old Face" panose="020206020805050203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104923" y="1819313"/>
            <a:ext cx="3572" cy="100509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 sz="2400">
              <a:latin typeface="Baskerville Old Face" panose="020206020805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36695" y="2820833"/>
            <a:ext cx="2971800" cy="357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 sz="2400">
              <a:latin typeface="Baskerville Old Face" panose="020206020805050203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36695" y="1819313"/>
            <a:ext cx="3572" cy="100509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 sz="2400">
              <a:latin typeface="Baskerville Old Face" panose="020206020805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79570" y="1962188"/>
            <a:ext cx="26860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Baskerville Old Face" panose="02020602080505020303" pitchFamily="18" charset="0"/>
                <a:ea typeface="JetBrains Mono SemiBold" pitchFamily="34" charset="-122"/>
                <a:cs typeface="JetBrains Mono SemiBold" pitchFamily="34" charset="-120"/>
              </a:rPr>
              <a:t>GOVERNANCE IMPLICATIONS</a:t>
            </a:r>
            <a:endParaRPr lang="en-US" sz="900" dirty="0">
              <a:latin typeface="Baskerville Old Face" panose="0202060208050502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9570" y="2194360"/>
            <a:ext cx="2686050" cy="51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Narrower margins often lead to more accountable representatives but can also result in less stable mandates and legislative fragility.</a:t>
            </a:r>
            <a:endParaRPr lang="en-US" sz="900" dirty="0">
              <a:latin typeface="Baskerville Old Face" panose="02020602080505020303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F73B7A-5F16-52E9-9DBB-54369244D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161" y="66719"/>
            <a:ext cx="5179547" cy="2505031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209919" y="3254041"/>
            <a:ext cx="2825353" cy="773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Collapse of the 50%+ Mandate:</a:t>
            </a:r>
            <a:r>
              <a:rPr lang="en-US" sz="10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In 2021, 70 winners secured over 50% of the vote; in 2026, this number plummeted to just 13, indicating a loss of absolute majority mandates.</a:t>
            </a:r>
            <a:endParaRPr lang="en-US" sz="1000" dirty="0">
              <a:latin typeface="Baskerville Old Face" panose="02020602080505020303" pitchFamily="18" charset="0"/>
            </a:endParaRPr>
          </a:p>
        </p:txBody>
      </p:sp>
      <p:sp>
        <p:nvSpPr>
          <p:cNvPr id="20" name="Text 5"/>
          <p:cNvSpPr/>
          <p:nvPr/>
        </p:nvSpPr>
        <p:spPr>
          <a:xfrm>
            <a:off x="209919" y="4036145"/>
            <a:ext cx="2825353" cy="57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The New Normal:</a:t>
            </a:r>
            <a:r>
              <a:rPr lang="en-US" sz="1000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 27.4% of constituencies (64 seats) were won with less than 35% of the total valid votes polled, creating "plurality winners."</a:t>
            </a:r>
            <a:endParaRPr lang="en-US" sz="1000" dirty="0">
              <a:latin typeface="Baskerville Old Face" panose="02020602080505020303" pitchFamily="18" charset="0"/>
            </a:endParaRPr>
          </a:p>
        </p:txBody>
      </p:sp>
      <p:sp>
        <p:nvSpPr>
          <p:cNvPr id="21" name="Text 9"/>
          <p:cNvSpPr/>
          <p:nvPr/>
        </p:nvSpPr>
        <p:spPr>
          <a:xfrm>
            <a:off x="209919" y="4635386"/>
            <a:ext cx="2825353" cy="379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i="1" dirty="0">
                <a:solidFill>
                  <a:srgbClr val="1F2937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A fragmented electorate requires broader coalition-building and shifts the nature of political legitimacy.</a:t>
            </a:r>
            <a:endParaRPr lang="en-US" sz="1000" dirty="0">
              <a:latin typeface="Baskerville Old Face" panose="02020602080505020303" pitchFamily="18" charset="0"/>
            </a:endParaRPr>
          </a:p>
        </p:txBody>
      </p:sp>
      <p:sp>
        <p:nvSpPr>
          <p:cNvPr id="23" name="Text 3"/>
          <p:cNvSpPr/>
          <p:nvPr/>
        </p:nvSpPr>
        <p:spPr>
          <a:xfrm>
            <a:off x="209919" y="2889294"/>
            <a:ext cx="186056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E3A8A"/>
                </a:solidFill>
                <a:latin typeface="Baskerville Old Face" panose="02020602080505020303" pitchFamily="18" charset="0"/>
                <a:ea typeface="Lora" pitchFamily="34" charset="-122"/>
                <a:cs typeface="Lora" pitchFamily="34" charset="-120"/>
              </a:rPr>
              <a:t>Mandate Strength: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856709-9296-78A7-1353-1AC552C76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382" y="2631943"/>
            <a:ext cx="4829906" cy="2385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1763"/>
            <a:ext cx="7578477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E3A8A"/>
                </a:solidFill>
                <a:latin typeface="Baskerville Old Face" panose="02020602080505020303" pitchFamily="18" charset="0"/>
                <a:ea typeface="Platypi Medium" pitchFamily="34" charset="-122"/>
                <a:cs typeface="Platypi Medium" pitchFamily="34" charset="-120"/>
              </a:rPr>
              <a:t>Conclusion: The Future of Tamil Nadu Politics</a:t>
            </a:r>
            <a:endParaRPr lang="en-US" sz="32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70099"/>
            <a:ext cx="2085008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3E2513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PERMANENT TRANSFORMATION</a:t>
            </a:r>
            <a:endParaRPr lang="en-US" sz="1100" b="1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592684"/>
            <a:ext cx="3920282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The 2026 election has effectively ended the era of bipolar politics in Tamil Nadu, ushering in a multi-polar reality that demands new political strategies.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341885"/>
            <a:ext cx="1547813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3E2513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VOTER ENGAGEMENT</a:t>
            </a:r>
            <a:endParaRPr lang="en-US" sz="1100" b="1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2664470"/>
            <a:ext cx="3920282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The record 85.1 percent turnout reflects a highly demanding electorate willing to experiment with new leadership and break traditional party loyalties.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32362" y="1270099"/>
            <a:ext cx="1320924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3E2513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THE TVK FACTOR</a:t>
            </a:r>
            <a:endParaRPr lang="en-US" sz="1100" b="1" dirty="0">
              <a:latin typeface="Baskerville Old Face" panose="020206020805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32362" y="1592684"/>
            <a:ext cx="3920282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With a 34.92 percent vote share and 108 seats, TVK is no longer an "alternative" but a central pillar of the state's political and legislative future.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32362" y="2341885"/>
            <a:ext cx="1371526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3E2513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THE ROAD AHEAD</a:t>
            </a:r>
            <a:endParaRPr lang="en-US" sz="1100" b="1" dirty="0">
              <a:latin typeface="Baskerville Old Face" panose="020206020805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32362" y="2664470"/>
            <a:ext cx="3920282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As margins thin and mandates fragment, the ability to build broad-based coalitions will become the defining skill for future political success in the state.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6119" y="3510558"/>
            <a:ext cx="8151763" cy="9525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  <p:txBody>
          <a:bodyPr/>
          <a:lstStyle/>
          <a:p>
            <a:endParaRPr lang="en-US" sz="2400">
              <a:latin typeface="Baskerville Old Face" panose="020206020805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7437" y="3810298"/>
            <a:ext cx="796044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b="1" i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"Tamil Nadu has set a precedent for how established political systems can be disrupted through organized, state-wide mobilization."</a:t>
            </a:r>
            <a:endParaRPr lang="en-US" sz="1200" b="1" dirty="0">
              <a:latin typeface="Baskerville Old Face" panose="020206020805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6119" y="3681115"/>
            <a:ext cx="14288" cy="646212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 sz="2400">
              <a:latin typeface="Baskerville Old Face" panose="020206020805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919" y="4456509"/>
            <a:ext cx="8151763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2026 ELECTION ANALYSIS · FINAL REPORT SUMMARY</a:t>
            </a:r>
            <a:endParaRPr lang="en-US" sz="1100" b="1" dirty="0">
              <a:latin typeface="Baskerville Old Face" panose="02020602080505020303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7B1130-C7F2-0129-7070-55B237174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956" y="4673825"/>
            <a:ext cx="2458247" cy="421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8156"/>
            <a:ext cx="8151763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E3A8A"/>
                </a:solidFill>
                <a:latin typeface="Baskerville Old Face" panose="02020602080505020303" pitchFamily="18" charset="0"/>
                <a:ea typeface="Platypi Medium" pitchFamily="34" charset="-122"/>
                <a:cs typeface="Platypi Medium" pitchFamily="34" charset="-120"/>
              </a:rPr>
              <a:t>Editorial Recommendations: Navigating the New Landscape</a:t>
            </a:r>
            <a:endParaRPr lang="en-US" sz="28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446014"/>
            <a:ext cx="4024685" cy="1464320"/>
          </a:xfrm>
          <a:prstGeom prst="roundRect">
            <a:avLst>
              <a:gd name="adj" fmla="val 12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sz="280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0882" y="1616869"/>
            <a:ext cx="1043508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E2513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NARRATIVE FRAMING</a:t>
            </a:r>
            <a:endParaRPr lang="en-US" sz="1100" b="1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0882" y="1910730"/>
            <a:ext cx="375515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Frame the 2026 results as a fundamental structural shift rather than a temporary protest vote. Emphasize the emergence of a permanent multi-polar reality in Tamil Nadu politics.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0881" y="2560811"/>
            <a:ext cx="2605669" cy="214759"/>
          </a:xfrm>
          <a:prstGeom prst="roundRect">
            <a:avLst>
              <a:gd name="adj" fmla="val 673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 sz="2800">
              <a:latin typeface="Baskerville Old Face" panose="020206020805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3138" y="2596902"/>
            <a:ext cx="1829842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STRATEGY: LEAD WITH REALIGNMENT</a:t>
            </a:r>
            <a:endParaRPr lang="en-US" sz="1000" dirty="0">
              <a:latin typeface="Baskerville Old Face" panose="020206020805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23197" y="1446014"/>
            <a:ext cx="4024685" cy="1464320"/>
          </a:xfrm>
          <a:prstGeom prst="roundRect">
            <a:avLst>
              <a:gd name="adj" fmla="val 12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sz="2800">
              <a:latin typeface="Baskerville Old Face" panose="020206020805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7961" y="1616869"/>
            <a:ext cx="1146274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E2513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COMPETITIVE ANALYSIS</a:t>
            </a:r>
            <a:endParaRPr lang="en-US" sz="1100" b="1" dirty="0">
              <a:latin typeface="Baskerville Old Face" panose="020206020805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7961" y="1910730"/>
            <a:ext cx="375515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Highlight that TVK's growth was fueled almost equally by losses from both DMK and AIADMK. This suggests a broad-based appeal that transcends traditional ideological divides.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7961" y="2560811"/>
            <a:ext cx="2808167" cy="214759"/>
          </a:xfrm>
          <a:prstGeom prst="roundRect">
            <a:avLst>
              <a:gd name="adj" fmla="val 673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 sz="2800">
              <a:latin typeface="Baskerville Old Face" panose="020206020805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30217" y="2596902"/>
            <a:ext cx="1928813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STRATEGY: ANALYZE "BIG TWO" EROSION</a:t>
            </a:r>
            <a:endParaRPr lang="en-US" sz="1000" dirty="0">
              <a:latin typeface="Baskerville Old Face" panose="020206020805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6119" y="3012728"/>
            <a:ext cx="4024685" cy="1642616"/>
          </a:xfrm>
          <a:prstGeom prst="roundRect">
            <a:avLst>
              <a:gd name="adj" fmla="val 11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sz="2800">
              <a:latin typeface="Baskerville Old Face" panose="020206020805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0882" y="3183582"/>
            <a:ext cx="981447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E2513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GEOGRAPHIC FOCUS</a:t>
            </a:r>
            <a:endParaRPr lang="en-US" sz="1100" b="1" dirty="0">
              <a:latin typeface="Baskerville Old Face" panose="020206020805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882" y="3477444"/>
            <a:ext cx="375515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Utilize the Chennai Metro sweep as a primary case study. Explain how new political movements can capture core urban centers through organized, state-wide mobilization.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882" y="4127525"/>
            <a:ext cx="3009706" cy="214759"/>
          </a:xfrm>
          <a:prstGeom prst="roundRect">
            <a:avLst>
              <a:gd name="adj" fmla="val 673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 sz="2800">
              <a:latin typeface="Baskerville Old Face" panose="020206020805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3138" y="4163616"/>
            <a:ext cx="2085380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STRATEGY: HIGHLIGHT URBAN DOMINANCE</a:t>
            </a:r>
            <a:endParaRPr lang="en-US" sz="1000" dirty="0">
              <a:latin typeface="Baskerville Old Face" panose="020206020805050203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23197" y="3012728"/>
            <a:ext cx="4024685" cy="1642616"/>
          </a:xfrm>
          <a:prstGeom prst="roundRect">
            <a:avLst>
              <a:gd name="adj" fmla="val 11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sz="2800">
              <a:latin typeface="Baskerville Old Face" panose="020206020805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57961" y="3183582"/>
            <a:ext cx="991419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E2513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MANDATE STABILITY</a:t>
            </a:r>
            <a:endParaRPr lang="en-US" sz="1100" b="1" dirty="0">
              <a:latin typeface="Baskerville Old Face" panose="020206020805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7961" y="3477444"/>
            <a:ext cx="375515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Address the implications of narrow victory margins for future policy stability. Analyze how fragmented mandates will necessitate more complex legislative alliances and coalition-building.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7960" y="4305821"/>
            <a:ext cx="2808167" cy="214759"/>
          </a:xfrm>
          <a:prstGeom prst="roundRect">
            <a:avLst>
              <a:gd name="adj" fmla="val 673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 sz="2800">
              <a:latin typeface="Baskerville Old Face" panose="020206020805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30217" y="4341912"/>
            <a:ext cx="2015654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STRATEGY: ADDRESS MANDATE FRAGILITY</a:t>
            </a:r>
            <a:endParaRPr lang="en-US" sz="1000" dirty="0">
              <a:latin typeface="Baskerville Old Face" panose="02020602080505020303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B28538-A6D7-767B-7E44-6735A32B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626" y="4691435"/>
            <a:ext cx="3753374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1219" y="306777"/>
            <a:ext cx="77209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E3A8A"/>
                </a:solidFill>
                <a:latin typeface="Baskerville Old Face" panose="02020602080505020303" pitchFamily="18" charset="0"/>
                <a:ea typeface="Platypi Medium" pitchFamily="34" charset="-122"/>
                <a:cs typeface="Platypi Medium" pitchFamily="34" charset="-120"/>
              </a:rPr>
              <a:t>Data Limitations &amp; Analytical Boundaries</a:t>
            </a:r>
            <a:endParaRPr lang="en-US" sz="28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8649" y="1149123"/>
            <a:ext cx="27378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Baskerville Old Face" panose="02020602080505020303" pitchFamily="18" charset="0"/>
                <a:ea typeface="Platypi Medium" pitchFamily="34" charset="-122"/>
                <a:cs typeface="Platypi Medium" pitchFamily="34" charset="-120"/>
              </a:rPr>
              <a:t>ANALYTICAL STRENGTHS</a:t>
            </a:r>
            <a:endParaRPr lang="en-US" sz="1600" b="1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8649" y="1512338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Descriptive Accuracy: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Precise tracking of vote share migration and margin shifts.</a:t>
            </a:r>
            <a:endParaRPr lang="en-US" sz="1400" dirty="0">
              <a:latin typeface="Baskerville Old Face" panose="02020602080505020303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Geographic Patterns: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Clear identification of regional variations in TVK support.</a:t>
            </a:r>
            <a:endParaRPr lang="en-US" sz="1400" dirty="0">
              <a:latin typeface="Baskerville Old Face" panose="02020602080505020303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Comparative Depth: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Robust 2021 vs 2026 constituency-level breakdown.</a:t>
            </a:r>
            <a:endParaRPr lang="en-US" sz="1400" dirty="0">
              <a:latin typeface="Baskerville Old Face" panose="02020602080505020303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Official Sourcing: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Based entirely on verified Election Commission of India data.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92231" y="1149123"/>
            <a:ext cx="28258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Baskerville Old Face" panose="02020602080505020303" pitchFamily="18" charset="0"/>
                <a:ea typeface="Platypi Medium" pitchFamily="34" charset="-122"/>
                <a:cs typeface="Platypi Medium" pitchFamily="34" charset="-120"/>
              </a:rPr>
              <a:t>ANALYTICAL BOUNDARIES</a:t>
            </a:r>
            <a:endParaRPr lang="en-US" sz="1600" b="1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92231" y="1512338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Causation: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Cannot definitively prove *why* voters switched without survey data.</a:t>
            </a:r>
            <a:endParaRPr lang="en-US" sz="1400" dirty="0">
              <a:latin typeface="Baskerville Old Face" panose="02020602080505020303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Demographics: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Aggregated data hides individual factors like caste or occupation.</a:t>
            </a:r>
            <a:endParaRPr lang="en-US" sz="1400" dirty="0">
              <a:latin typeface="Baskerville Old Face" panose="02020602080505020303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Qualitative Context: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Impact of campaigns and media influence remains unmeasured.</a:t>
            </a:r>
            <a:endParaRPr lang="en-US" sz="1400" dirty="0">
              <a:latin typeface="Baskerville Old Face" panose="02020602080505020303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Temporal Limits:</a:t>
            </a:r>
            <a:r>
              <a:rPr lang="en-US" sz="1400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 Two-cycle comparison may miss long-term structural trends.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8" y="423810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504C49"/>
                </a:solidFill>
                <a:latin typeface="Baskerville Old Face" panose="02020602080505020303" pitchFamily="18" charset="0"/>
                <a:ea typeface="Source Serif 4" pitchFamily="34" charset="-122"/>
                <a:cs typeface="Source Serif 4" pitchFamily="34" charset="-120"/>
              </a:rPr>
              <a:t>This analysis is based on results data. To answer behavioral "why" questions would require supplemental exit polls and post-election surveys.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9B7EC2-D87A-F875-E5B6-8F11166D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624" y="4519836"/>
            <a:ext cx="3219899" cy="5525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1188</Words>
  <Application>Microsoft Office PowerPoint</Application>
  <PresentationFormat>On-screen Show (16:9)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Baskerville Old Face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Nirmit Gupta</cp:lastModifiedBy>
  <cp:revision>9</cp:revision>
  <dcterms:created xsi:type="dcterms:W3CDTF">2026-05-28T15:44:49Z</dcterms:created>
  <dcterms:modified xsi:type="dcterms:W3CDTF">2026-05-28T23:45:19Z</dcterms:modified>
</cp:coreProperties>
</file>